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538" r:id="rId3"/>
    <p:sldId id="539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F151B5-E02D-4AD5-A450-B9442195A6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91A3EF7-B2A3-4838-821F-B8A5041EC5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B7DF7CA-5CC7-4899-8952-E5CA1E5EE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5F0AC-2631-46BC-9670-62E9F5986203}" type="datetimeFigureOut">
              <a:rPr lang="fr-FR" smtClean="0"/>
              <a:t>20/05/2026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CFC37FD-EF7E-42C7-A67C-0B084F8E0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75CC18-47AB-4E60-8A83-9E400914C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FE9B2-C2E4-488E-B1D5-5175C2DDD30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5426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4CB4B4-5961-4947-8F1A-3D2B17240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27E4645-4258-4E06-937D-31589DDBB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7C83C93-3783-49BF-840B-DBC7EBBD8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5F0AC-2631-46BC-9670-62E9F5986203}" type="datetimeFigureOut">
              <a:rPr lang="fr-FR" smtClean="0"/>
              <a:t>20/05/2026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11B3EF4-9758-4543-BA79-45693179C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80DEFC7-CB37-418F-B7B7-8708EFCE4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FE9B2-C2E4-488E-B1D5-5175C2DDD30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0444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723987-6976-4E39-A671-AEAC054A8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0766B53-1A02-41F0-AF83-F7129B407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749E5C2-A824-415C-A74D-1B69C367C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5F0AC-2631-46BC-9670-62E9F5986203}" type="datetimeFigureOut">
              <a:rPr lang="fr-FR" smtClean="0"/>
              <a:t>20/05/2026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70F93E0-5027-4692-A5C4-8B6E3FFF2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30E5002-2CAC-43ED-85F4-3A4ED30C6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FE9B2-C2E4-488E-B1D5-5175C2DDD30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1915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A147DE-5598-427D-ADCE-F6F0A0D70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4B4BAFD-CF5C-42EA-8783-2F830E9B7E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CF14C7C-B172-4746-90AD-EE4A1B8F1D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06891A9-D24D-454B-A024-CAD84B34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5F0AC-2631-46BC-9670-62E9F5986203}" type="datetimeFigureOut">
              <a:rPr lang="fr-FR" smtClean="0"/>
              <a:t>20/05/2026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0630F8D-F675-4635-971E-AB2C9F7B8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D2E761B-A3D6-4439-8B93-C0B7D8015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FE9B2-C2E4-488E-B1D5-5175C2DDD30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7687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FCD842-0002-4C4C-A834-70104C1DD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B9E53BB-B816-4F4E-A5C3-4406D8E154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A5AE252-4AC3-4037-A322-C2879D1F2B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4621809-A265-4E32-BF1E-4EEB4C8855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CD1C4E8-0C1B-4674-B2F4-0D892D0DFD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BDC3166-0F45-427B-A613-9EA3285B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5F0AC-2631-46BC-9670-62E9F5986203}" type="datetimeFigureOut">
              <a:rPr lang="fr-FR" smtClean="0"/>
              <a:t>20/05/2026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193FA74-58F1-4FD1-BC71-395545C74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4250057-41F4-40C5-8197-0C30A0394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FE9B2-C2E4-488E-B1D5-5175C2DDD30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2781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930C27-7A2D-4FDC-B2B0-EE6B58DB8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D8C494D-2CF2-40B4-AB81-9461DBE15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5F0AC-2631-46BC-9670-62E9F5986203}" type="datetimeFigureOut">
              <a:rPr lang="fr-FR" smtClean="0"/>
              <a:t>20/05/2026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F5D0693-AC6A-424B-A990-F5F12016B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B1E606B-3C4E-44E7-B2B3-319DA5909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FE9B2-C2E4-488E-B1D5-5175C2DDD30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4085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6D656FC-C00A-4966-9A69-0BCC9E955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5F0AC-2631-46BC-9670-62E9F5986203}" type="datetimeFigureOut">
              <a:rPr lang="fr-FR" smtClean="0"/>
              <a:t>20/05/2026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9FDB208-9FA6-4BA5-9E52-FBA2A887D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7D0E19B-DAD8-422B-8C7C-A0D29D0C8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FE9B2-C2E4-488E-B1D5-5175C2DDD30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8852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41E88B-D926-4FFA-B109-81A1BA0C7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50CE052-FABA-4472-BCA8-BEBF204AEA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D810628-71CC-4EA0-B04B-5B46C4A692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FF749C8-BC1E-4D83-ACAE-1D876C8BC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5F0AC-2631-46BC-9670-62E9F5986203}" type="datetimeFigureOut">
              <a:rPr lang="fr-FR" smtClean="0"/>
              <a:t>20/05/2026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38E7953-0E2B-4CB5-887E-728CEDC44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6ABB77F-3C4F-4E87-9660-FFBAE83C7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FE9B2-C2E4-488E-B1D5-5175C2DDD30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7008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620925-B148-4BF6-BA93-1EA3BD86E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66466E5-BA74-4F05-8E4F-0DA76146A3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5EFDF6F-9FB3-4C59-A330-88E3B6F378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4AD6E38-2C35-4280-9CF2-217CD4F0C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5F0AC-2631-46BC-9670-62E9F5986203}" type="datetimeFigureOut">
              <a:rPr lang="fr-FR" smtClean="0"/>
              <a:t>20/05/2026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600C676-E747-4107-8097-770CA0D29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B3D8AE0-C415-4A9E-8A34-A87ADDD7D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FE9B2-C2E4-488E-B1D5-5175C2DDD30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3837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DABA6F-67BF-4936-B821-7AA7D03D2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A1DD683-54AC-4DC0-A9D4-42E3597776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170DE01-AF2F-44CE-A575-A17D3C478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5F0AC-2631-46BC-9670-62E9F5986203}" type="datetimeFigureOut">
              <a:rPr lang="fr-FR" smtClean="0"/>
              <a:t>20/05/2026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E2BF72-B3CF-4833-8D88-CBE37C86F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6676AA-4420-463E-967A-3E01FD69D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FE9B2-C2E4-488E-B1D5-5175C2DDD30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1585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F738C2C-B766-4261-930B-D275523BCD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5A4582F-E585-4C57-996C-E7CA47722C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F4E20C2-62BF-4AAE-A9A6-08728ED10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5F0AC-2631-46BC-9670-62E9F5986203}" type="datetimeFigureOut">
              <a:rPr lang="fr-FR" smtClean="0"/>
              <a:t>20/05/2026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98F6F78-7851-483F-8365-10A6880E9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60B616E-57B4-45FD-B951-26A710EDF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FE9B2-C2E4-488E-B1D5-5175C2DDD30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2853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D293AF8-6FC1-4EA3-A96A-35FBB5972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249164B-CF2C-457E-B284-DD636DF7E5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20D8EE4-5131-4D7A-94FE-2367F148A2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65F0AC-2631-46BC-9670-62E9F5986203}" type="datetimeFigureOut">
              <a:rPr lang="fr-FR" smtClean="0"/>
              <a:t>20/05/2026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7A1AC93-EE3E-4EA6-A6AF-3A608E3EDF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640EC08-B029-483A-BE51-3EE2DF1A5C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1FE9B2-C2E4-488E-B1D5-5175C2DDD30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575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88A353C6-EED3-42A5-B421-2D9F281C31FE}"/>
              </a:ext>
            </a:extLst>
          </p:cNvPr>
          <p:cNvSpPr txBox="1"/>
          <p:nvPr/>
        </p:nvSpPr>
        <p:spPr>
          <a:xfrm>
            <a:off x="-88777" y="431267"/>
            <a:ext cx="119404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b="1" dirty="0"/>
              <a:t>GC </a:t>
            </a:r>
            <a:r>
              <a:rPr lang="fr-FR" sz="4400" b="1" dirty="0" err="1"/>
              <a:t>carbon</a:t>
            </a:r>
            <a:r>
              <a:rPr lang="fr-FR" sz="4400" b="1" dirty="0"/>
              <a:t> calibration for SWING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9D5591E5-34CC-4798-9DB3-84C3AB52D07C}"/>
                  </a:ext>
                </a:extLst>
              </p:cNvPr>
              <p:cNvSpPr txBox="1"/>
              <p:nvPr/>
            </p:nvSpPr>
            <p:spPr>
              <a:xfrm>
                <a:off x="2843444" y="1440882"/>
                <a:ext cx="6809173" cy="76790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0" i="1" dirty="0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fr-FR" sz="2400" b="0" i="1" dirty="0" smtClean="0">
                              <a:latin typeface="Cambria Math" panose="02040503050406030204" pitchFamily="18" charset="0"/>
                            </a:rPr>
                            <m:t>𝐺𝐶</m:t>
                          </m:r>
                          <m:r>
                            <a:rPr lang="fr-FR" sz="24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d>
                        <m:dPr>
                          <m:ctrlPr>
                            <a:rPr lang="fr-FR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fr-FR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400" i="1" dirty="0">
                                  <a:latin typeface="Cambria Math" panose="02040503050406030204" pitchFamily="18" charset="0"/>
                                </a:rPr>
                                <m:t>𝑐𝑚</m:t>
                              </m:r>
                            </m:e>
                            <m:sup>
                              <m:r>
                                <a:rPr lang="fr-FR" sz="2400" b="0" i="1" dirty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b="0" i="1" dirty="0" smtClean="0">
                          <a:latin typeface="Cambria Math" panose="02040503050406030204" pitchFamily="18" charset="0"/>
                        </a:rPr>
                        <m:t>𝐾</m:t>
                      </m:r>
                      <m:f>
                        <m:fPr>
                          <m:ctrlPr>
                            <a:rPr lang="fr-FR" sz="2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i="1" dirty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fr-FR" sz="2400" i="1" dirty="0">
                                  <a:latin typeface="Cambria Math" panose="02040503050406030204" pitchFamily="18" charset="0"/>
                                </a:rPr>
                                <m:t>𝑆𝑤𝑖𝑛𝑔</m:t>
                              </m:r>
                              <m:r>
                                <a:rPr lang="fr-FR" sz="2400" b="0" i="1" dirty="0" smtClean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fr-FR" sz="2400" i="1" dirty="0">
                                  <a:latin typeface="Cambria Math" panose="02040503050406030204" pitchFamily="18" charset="0"/>
                                </a:rPr>
                                <m:t>𝐺𝐶</m:t>
                              </m:r>
                              <m:r>
                                <a:rPr lang="fr-FR" sz="24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i="1" dirty="0">
                                  <a:latin typeface="Cambria Math" panose="02040503050406030204" pitchFamily="18" charset="0"/>
                                </a:rPr>
                                <m:t>− </m:t>
                              </m:r>
                              <m:r>
                                <a:rPr lang="fr-FR" sz="2400" i="1" dirty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fr-FR" sz="2400" i="1" dirty="0">
                                  <a:latin typeface="Cambria Math" panose="02040503050406030204" pitchFamily="18" charset="0"/>
                                </a:rPr>
                                <m:t>𝑆𝑤𝑖𝑛𝑔</m:t>
                              </m:r>
                              <m:r>
                                <a:rPr lang="fr-FR" sz="2400" i="1" dirty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fr-FR" sz="2400" i="1" dirty="0">
                                  <a:latin typeface="Cambria Math" panose="02040503050406030204" pitchFamily="18" charset="0"/>
                                </a:rPr>
                                <m:t>𝑎𝑖𝑟</m:t>
                              </m:r>
                              <m:r>
                                <a:rPr lang="fr-FR" sz="24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i="1" dirty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fr-FR" sz="2400" i="1" dirty="0">
                                  <a:latin typeface="Cambria Math" panose="02040503050406030204" pitchFamily="18" charset="0"/>
                                </a:rPr>
                                <m:t>𝐺𝐶</m:t>
                              </m:r>
                            </m:sub>
                          </m:sSub>
                          <m:r>
                            <a:rPr lang="fr-FR" sz="24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4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2400" i="1" dirty="0">
                              <a:latin typeface="Cambria Math" panose="02040503050406030204" pitchFamily="18" charset="0"/>
                            </a:rPr>
                            <m:t>𝑚𝑚</m:t>
                          </m:r>
                          <m:r>
                            <a:rPr lang="fr-FR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9D5591E5-34CC-4798-9DB3-84C3AB52D0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3444" y="1440882"/>
                <a:ext cx="6809173" cy="76790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1109168F-3511-4EA4-ABC2-F3D5A0FFBAE7}"/>
                  </a:ext>
                </a:extLst>
              </p:cNvPr>
              <p:cNvSpPr txBox="1"/>
              <p:nvPr/>
            </p:nvSpPr>
            <p:spPr>
              <a:xfrm>
                <a:off x="1904707" y="4486416"/>
                <a:ext cx="8100798" cy="8054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0" i="1" dirty="0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fr-FR" sz="2400" b="0" i="1" dirty="0" smtClean="0">
                              <a:latin typeface="Cambria Math" panose="02040503050406030204" pitchFamily="18" charset="0"/>
                            </a:rPr>
                            <m:t>𝑐𝑎𝑝</m:t>
                          </m:r>
                          <m:r>
                            <a:rPr lang="fr-FR" sz="2400" b="0" i="1" dirty="0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fr-FR" sz="2400" b="0" i="1" dirty="0" smtClean="0">
                              <a:latin typeface="Cambria Math" panose="02040503050406030204" pitchFamily="18" charset="0"/>
                            </a:rPr>
                            <m:t>𝑛𝑜𝑟𝑚</m:t>
                          </m:r>
                          <m:r>
                            <a:rPr lang="fr-FR" sz="2400" b="0" i="1" dirty="0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fr-FR" sz="2400" b="0" i="1" dirty="0" smtClean="0">
                              <a:latin typeface="Cambria Math" panose="02040503050406030204" pitchFamily="18" charset="0"/>
                            </a:rPr>
                            <m:t>𝑠𝑢𝑏</m:t>
                          </m:r>
                          <m:r>
                            <a:rPr lang="fr-FR" sz="24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d>
                        <m:dPr>
                          <m:ctrlPr>
                            <a:rPr lang="fr-FR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fr-FR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400" i="1" dirty="0">
                                  <a:latin typeface="Cambria Math" panose="02040503050406030204" pitchFamily="18" charset="0"/>
                                </a:rPr>
                                <m:t>𝑐𝑚</m:t>
                              </m:r>
                            </m:e>
                            <m:sup>
                              <m:r>
                                <a:rPr lang="fr-FR" sz="2400" b="0" i="1" dirty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b="0" i="1" dirty="0" smtClean="0">
                          <a:latin typeface="Cambria Math" panose="02040503050406030204" pitchFamily="18" charset="0"/>
                        </a:rPr>
                        <m:t>𝐾</m:t>
                      </m:r>
                      <m:f>
                        <m:fPr>
                          <m:ctrlPr>
                            <a:rPr lang="fr-FR" sz="2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i="1" dirty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fr-FR" sz="2400" i="1" dirty="0">
                                  <a:latin typeface="Cambria Math" panose="02040503050406030204" pitchFamily="18" charset="0"/>
                                </a:rPr>
                                <m:t>𝑆𝑤𝑖𝑛𝑔</m:t>
                              </m:r>
                              <m:r>
                                <a:rPr lang="fr-FR" sz="2400" b="0" i="1" dirty="0" smtClean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fr-FR" sz="2400" b="0" i="1" dirty="0" smtClean="0">
                                  <a:latin typeface="Cambria Math" panose="02040503050406030204" pitchFamily="18" charset="0"/>
                                </a:rPr>
                                <m:t>𝑐𝑎𝑝</m:t>
                              </m:r>
                              <m:r>
                                <a:rPr lang="fr-FR" sz="24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i="1" dirty="0">
                                  <a:latin typeface="Cambria Math" panose="02040503050406030204" pitchFamily="18" charset="0"/>
                                </a:rPr>
                                <m:t>− </m:t>
                              </m:r>
                              <m:r>
                                <a:rPr lang="fr-FR" sz="2400" i="1" dirty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fr-FR" sz="2400" i="1" dirty="0">
                                  <a:latin typeface="Cambria Math" panose="02040503050406030204" pitchFamily="18" charset="0"/>
                                </a:rPr>
                                <m:t>𝑆𝑤𝑖𝑛𝑔</m:t>
                              </m:r>
                              <m:r>
                                <a:rPr lang="fr-FR" sz="2400" i="1" dirty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fr-FR" sz="2400" b="0" i="1" dirty="0" smtClean="0">
                                  <a:latin typeface="Cambria Math" panose="02040503050406030204" pitchFamily="18" charset="0"/>
                                </a:rPr>
                                <m:t>𝑐𝑎𝑝</m:t>
                              </m:r>
                              <m:r>
                                <a:rPr lang="fr-FR" sz="2400" b="0" i="1" dirty="0" smtClean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fr-FR" sz="2400" b="0" i="1" dirty="0" smtClean="0">
                                  <a:latin typeface="Cambria Math" panose="02040503050406030204" pitchFamily="18" charset="0"/>
                                </a:rPr>
                                <m:t>𝑠𝑜𝑙𝑣𝑒𝑛𝑡</m:t>
                              </m:r>
                              <m:r>
                                <a:rPr lang="fr-FR" sz="24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i="1" dirty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fr-FR" sz="2400" b="0" i="1" dirty="0" smtClean="0">
                                  <a:latin typeface="Cambria Math" panose="02040503050406030204" pitchFamily="18" charset="0"/>
                                </a:rPr>
                                <m:t>𝑐𝑎𝑝</m:t>
                              </m:r>
                            </m:sub>
                          </m:sSub>
                          <m:r>
                            <a:rPr lang="fr-FR" sz="24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4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2400" i="1" dirty="0">
                              <a:latin typeface="Cambria Math" panose="02040503050406030204" pitchFamily="18" charset="0"/>
                            </a:rPr>
                            <m:t>𝑚𝑚</m:t>
                          </m:r>
                          <m:r>
                            <a:rPr lang="fr-FR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fr-FR" sz="2400" dirty="0"/>
              </a:p>
            </p:txBody>
          </p:sp>
        </mc:Choice>
        <mc:Fallback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1109168F-3511-4EA4-ABC2-F3D5A0FFBA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4707" y="4486416"/>
                <a:ext cx="8100798" cy="8054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B03D2B3-9248-4979-BD31-788FC3D2E603}"/>
                  </a:ext>
                </a:extLst>
              </p:cNvPr>
              <p:cNvSpPr/>
              <p:nvPr/>
            </p:nvSpPr>
            <p:spPr>
              <a:xfrm>
                <a:off x="793455" y="5533638"/>
                <a:ext cx="6965561" cy="9447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fr-FR" b="1" dirty="0">
                    <a:solidFill>
                      <a:srgbClr val="FF0000"/>
                    </a:solidFill>
                  </a:rPr>
                  <a:t>Calibration of </a:t>
                </a:r>
                <a:r>
                  <a:rPr lang="fr-FR" b="1" dirty="0" err="1">
                    <a:solidFill>
                      <a:srgbClr val="FF0000"/>
                    </a:solidFill>
                  </a:rPr>
                  <a:t>intensity</a:t>
                </a:r>
                <a:r>
                  <a:rPr lang="fr-FR" b="1" dirty="0">
                    <a:solidFill>
                      <a:srgbClr val="FF0000"/>
                    </a:solidFill>
                  </a:rPr>
                  <a:t> for a </a:t>
                </a:r>
                <a:r>
                  <a:rPr lang="fr-FR" b="1" dirty="0" err="1">
                    <a:solidFill>
                      <a:srgbClr val="FF0000"/>
                    </a:solidFill>
                  </a:rPr>
                  <a:t>sample</a:t>
                </a:r>
                <a:r>
                  <a:rPr lang="fr-FR" b="1" dirty="0">
                    <a:solidFill>
                      <a:srgbClr val="FF0000"/>
                    </a:solidFill>
                  </a:rPr>
                  <a:t> in a glass </a:t>
                </a:r>
                <a:r>
                  <a:rPr lang="fr-FR" b="1" dirty="0" err="1">
                    <a:solidFill>
                      <a:srgbClr val="FF0000"/>
                    </a:solidFill>
                  </a:rPr>
                  <a:t>capillary</a:t>
                </a:r>
                <a:r>
                  <a:rPr lang="fr-FR" b="1" dirty="0">
                    <a:solidFill>
                      <a:srgbClr val="FF0000"/>
                    </a:solidFill>
                  </a:rPr>
                  <a:t>:</a:t>
                </a:r>
              </a:p>
              <a:p>
                <a:endParaRPr lang="fr-FR" b="1" dirty="0"/>
              </a:p>
              <a:p>
                <a:r>
                  <a:rPr lang="fr-FR" dirty="0" err="1"/>
                  <a:t>Take</a:t>
                </a:r>
                <a:r>
                  <a:rPr lang="fr-FR" dirty="0"/>
                  <a:t> the </a:t>
                </a:r>
                <a:r>
                  <a:rPr lang="fr-FR" dirty="0" err="1"/>
                  <a:t>same</a:t>
                </a:r>
                <a:r>
                  <a:rPr lang="fr-FR" dirty="0"/>
                  <a:t> </a:t>
                </a:r>
                <a:r>
                  <a:rPr lang="fr-FR" dirty="0" err="1"/>
                  <a:t>thickness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𝑐𝑎𝑝</m:t>
                        </m:r>
                      </m:sub>
                    </m:sSub>
                  </m:oMath>
                </a14:m>
                <a:r>
                  <a:rPr lang="fr-FR" dirty="0"/>
                  <a:t> (in mm) for the </a:t>
                </a:r>
                <a:r>
                  <a:rPr lang="fr-FR" dirty="0" err="1"/>
                  <a:t>capillary</a:t>
                </a:r>
                <a:r>
                  <a:rPr lang="fr-FR" dirty="0"/>
                  <a:t> </a:t>
                </a:r>
                <a:r>
                  <a:rPr lang="fr-FR" dirty="0" err="1"/>
                  <a:t>filled</a:t>
                </a:r>
                <a:r>
                  <a:rPr lang="fr-FR" dirty="0"/>
                  <a:t> </a:t>
                </a:r>
                <a:r>
                  <a:rPr lang="fr-FR" dirty="0" err="1"/>
                  <a:t>with</a:t>
                </a:r>
                <a:r>
                  <a:rPr lang="fr-FR" dirty="0"/>
                  <a:t> solvent  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B03D2B3-9248-4979-BD31-788FC3D2E6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455" y="5533638"/>
                <a:ext cx="6965561" cy="944746"/>
              </a:xfrm>
              <a:prstGeom prst="rect">
                <a:avLst/>
              </a:prstGeom>
              <a:blipFill>
                <a:blip r:embed="rId4"/>
                <a:stretch>
                  <a:fillRect l="-700" t="-3871" r="-612" b="-774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7714664-0476-4873-9980-A1A46BCF2093}"/>
                  </a:ext>
                </a:extLst>
              </p:cNvPr>
              <p:cNvSpPr/>
              <p:nvPr/>
            </p:nvSpPr>
            <p:spPr>
              <a:xfrm>
                <a:off x="793455" y="2613392"/>
                <a:ext cx="8660512" cy="16312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fr-FR" sz="2800" b="1" dirty="0">
                    <a:solidFill>
                      <a:srgbClr val="FF0000"/>
                    </a:solidFill>
                  </a:rPr>
                  <a:t>GC calibration: K=0.036</a:t>
                </a:r>
              </a:p>
              <a:p>
                <a:endParaRPr lang="fr-FR" b="1" dirty="0"/>
              </a:p>
              <a:p>
                <a:r>
                  <a:rPr lang="fr-FR" dirty="0" err="1"/>
                  <a:t>Superimpose</a:t>
                </a:r>
                <a:r>
                  <a:rPr lang="fr-FR" dirty="0"/>
                  <a:t> GC (cm-1) </a:t>
                </a:r>
                <a:r>
                  <a:rPr lang="fr-FR" dirty="0" err="1"/>
                  <a:t>with</a:t>
                </a:r>
                <a:r>
                  <a:rPr lang="fr-FR" dirty="0"/>
                  <a:t> the calibration </a:t>
                </a:r>
                <a:r>
                  <a:rPr lang="fr-FR" dirty="0" err="1"/>
                  <a:t>curve</a:t>
                </a:r>
                <a:r>
                  <a:rPr lang="fr-FR" dirty="0"/>
                  <a:t> by Jan </a:t>
                </a:r>
                <a:r>
                  <a:rPr lang="fr-FR" dirty="0" err="1"/>
                  <a:t>Ilavsky</a:t>
                </a:r>
                <a:r>
                  <a:rPr lang="fr-FR" dirty="0"/>
                  <a:t> (file: GlassyCarbon_T.dat).</a:t>
                </a:r>
              </a:p>
              <a:p>
                <a:r>
                  <a:rPr lang="fr-FR" dirty="0"/>
                  <a:t>Calibration constant K </a:t>
                </a:r>
                <a:r>
                  <a:rPr lang="fr-FR" dirty="0" err="1"/>
                  <a:t>should</a:t>
                </a:r>
                <a:r>
                  <a:rPr lang="fr-FR" dirty="0"/>
                  <a:t> </a:t>
                </a:r>
                <a:r>
                  <a:rPr lang="fr-FR" dirty="0" err="1"/>
                  <a:t>be</a:t>
                </a:r>
                <a:r>
                  <a:rPr lang="fr-FR" dirty="0"/>
                  <a:t> close to 0.036.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𝐺𝐶</m:t>
                        </m:r>
                      </m:sub>
                    </m:sSub>
                    <m:r>
                      <a:rPr lang="fr-FR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dirty="0"/>
                  <a:t>= 1.16 mm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7714664-0476-4873-9980-A1A46BCF20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455" y="2613392"/>
                <a:ext cx="8660512" cy="1631216"/>
              </a:xfrm>
              <a:prstGeom prst="rect">
                <a:avLst/>
              </a:prstGeom>
              <a:blipFill>
                <a:blip r:embed="rId5"/>
                <a:stretch>
                  <a:fillRect l="-1407" t="-3745" b="-524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EA9F1D57-C9D6-496C-BDC7-F4BF78B32D95}"/>
              </a:ext>
            </a:extLst>
          </p:cNvPr>
          <p:cNvSpPr/>
          <p:nvPr/>
        </p:nvSpPr>
        <p:spPr>
          <a:xfrm>
            <a:off x="9116204" y="2000846"/>
            <a:ext cx="2735485" cy="9441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In Foxtrot macro, use K=0.036 for the calibration constant (</a:t>
            </a:r>
            <a:r>
              <a:rPr lang="fr-FR" b="1" dirty="0" err="1">
                <a:solidFill>
                  <a:srgbClr val="FF0000"/>
                </a:solidFill>
              </a:rPr>
              <a:t>instead</a:t>
            </a:r>
            <a:r>
              <a:rPr lang="fr-FR" b="1" dirty="0">
                <a:solidFill>
                  <a:srgbClr val="FF0000"/>
                </a:solidFill>
              </a:rPr>
              <a:t> of K=1)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27675B-F42E-4D27-B85E-FC36E67F68E4}"/>
              </a:ext>
            </a:extLst>
          </p:cNvPr>
          <p:cNvSpPr/>
          <p:nvPr/>
        </p:nvSpPr>
        <p:spPr>
          <a:xfrm>
            <a:off x="9116203" y="5503403"/>
            <a:ext cx="273548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err="1">
                <a:solidFill>
                  <a:srgbClr val="FF0000"/>
                </a:solidFill>
              </a:rPr>
              <a:t>Thickness</a:t>
            </a:r>
            <a:r>
              <a:rPr lang="fr-FR" b="1" dirty="0">
                <a:solidFill>
                  <a:srgbClr val="FF0000"/>
                </a:solidFill>
              </a:rPr>
              <a:t> </a:t>
            </a:r>
            <a:r>
              <a:rPr lang="fr-FR" b="1" dirty="0" err="1">
                <a:solidFill>
                  <a:srgbClr val="FF0000"/>
                </a:solidFill>
              </a:rPr>
              <a:t>is</a:t>
            </a:r>
            <a:r>
              <a:rPr lang="fr-FR" b="1" dirty="0">
                <a:solidFill>
                  <a:srgbClr val="FF0000"/>
                </a:solidFill>
              </a:rPr>
              <a:t> not </a:t>
            </a:r>
            <a:r>
              <a:rPr lang="fr-FR" b="1" dirty="0" err="1">
                <a:solidFill>
                  <a:srgbClr val="FF0000"/>
                </a:solidFill>
              </a:rPr>
              <a:t>taken</a:t>
            </a:r>
            <a:r>
              <a:rPr lang="fr-FR" b="1" dirty="0">
                <a:solidFill>
                  <a:srgbClr val="FF0000"/>
                </a:solidFill>
              </a:rPr>
              <a:t> </a:t>
            </a:r>
            <a:r>
              <a:rPr lang="fr-FR" b="1" dirty="0" err="1">
                <a:solidFill>
                  <a:srgbClr val="FF0000"/>
                </a:solidFill>
              </a:rPr>
              <a:t>into</a:t>
            </a:r>
            <a:r>
              <a:rPr lang="fr-FR" b="1" dirty="0">
                <a:solidFill>
                  <a:srgbClr val="FF0000"/>
                </a:solidFill>
              </a:rPr>
              <a:t> </a:t>
            </a:r>
            <a:r>
              <a:rPr lang="fr-FR" b="1" dirty="0" err="1">
                <a:solidFill>
                  <a:srgbClr val="FF0000"/>
                </a:solidFill>
              </a:rPr>
              <a:t>account</a:t>
            </a:r>
            <a:r>
              <a:rPr lang="fr-FR" b="1" dirty="0">
                <a:solidFill>
                  <a:srgbClr val="FF0000"/>
                </a:solidFill>
              </a:rPr>
              <a:t> in Foxtrot data </a:t>
            </a:r>
            <a:r>
              <a:rPr lang="fr-FR" b="1" dirty="0" err="1">
                <a:solidFill>
                  <a:srgbClr val="FF0000"/>
                </a:solidFill>
              </a:rPr>
              <a:t>reduction</a:t>
            </a:r>
            <a:endParaRPr lang="fr-FR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9926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>
            <a:extLst>
              <a:ext uri="{FF2B5EF4-FFF2-40B4-BE49-F238E27FC236}">
                <a16:creationId xmlns:a16="http://schemas.microsoft.com/office/drawing/2014/main" id="{60C17597-48AF-414A-BE4D-6790668BF550}"/>
              </a:ext>
            </a:extLst>
          </p:cNvPr>
          <p:cNvSpPr txBox="1"/>
          <p:nvPr/>
        </p:nvSpPr>
        <p:spPr>
          <a:xfrm>
            <a:off x="0" y="268899"/>
            <a:ext cx="119404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/>
              <a:t>SWING data April 26: GC calibration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3655111-4C40-459C-B894-ADDCD0E3565C}"/>
                  </a:ext>
                </a:extLst>
              </p:cNvPr>
              <p:cNvSpPr/>
              <p:nvPr/>
            </p:nvSpPr>
            <p:spPr>
              <a:xfrm>
                <a:off x="1117513" y="5746962"/>
                <a:ext cx="15384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fr-FR" b="0" i="1" dirty="0" smtClean="0">
                            <a:latin typeface="Cambria Math" panose="02040503050406030204" pitchFamily="18" charset="0"/>
                          </a:rPr>
                          <m:t>𝐺𝐶</m:t>
                        </m:r>
                      </m:sub>
                    </m:sSub>
                  </m:oMath>
                </a14:m>
                <a:r>
                  <a:rPr lang="fr-FR" dirty="0"/>
                  <a:t> = 1.16 mm</a:t>
                </a:r>
              </a:p>
            </p:txBody>
          </p:sp>
        </mc:Choice>
        <mc:Fallback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3655111-4C40-459C-B894-ADDCD0E356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513" y="5746962"/>
                <a:ext cx="1538498" cy="369332"/>
              </a:xfrm>
              <a:prstGeom prst="rect">
                <a:avLst/>
              </a:prstGeom>
              <a:blipFill>
                <a:blip r:embed="rId2"/>
                <a:stretch>
                  <a:fillRect t="-10000" r="-2372" b="-2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mage 2">
            <a:extLst>
              <a:ext uri="{FF2B5EF4-FFF2-40B4-BE49-F238E27FC236}">
                <a16:creationId xmlns:a16="http://schemas.microsoft.com/office/drawing/2014/main" id="{966B1500-2CF8-46DB-BA1C-119EC59B1B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288" y="1111038"/>
            <a:ext cx="6181232" cy="463592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E0827F5-9E96-4EB0-8286-AAC637B58F2E}"/>
                  </a:ext>
                </a:extLst>
              </p:cNvPr>
              <p:cNvSpPr/>
              <p:nvPr/>
            </p:nvSpPr>
            <p:spPr>
              <a:xfrm>
                <a:off x="6372632" y="2341219"/>
                <a:ext cx="5973869" cy="433554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fr-FR" dirty="0"/>
                  <a:t>In </a:t>
                </a:r>
                <a:r>
                  <a:rPr lang="fr-FR" dirty="0" err="1"/>
                  <a:t>SASView</a:t>
                </a:r>
                <a:r>
                  <a:rPr lang="fr-FR" dirty="0"/>
                  <a:t> GUI, go to </a:t>
                </a:r>
                <a:r>
                  <a:rPr lang="fr-FR" dirty="0" err="1"/>
                  <a:t>tools</a:t>
                </a:r>
                <a:r>
                  <a:rPr lang="fr-FR" dirty="0"/>
                  <a:t>/data </a:t>
                </a:r>
                <a:r>
                  <a:rPr lang="fr-FR" dirty="0" err="1"/>
                  <a:t>operation</a:t>
                </a:r>
                <a:r>
                  <a:rPr lang="fr-FR" dirty="0"/>
                  <a:t>:</a:t>
                </a:r>
              </a:p>
              <a:p>
                <a:endParaRPr lang="fr-FR" dirty="0"/>
              </a:p>
              <a:p>
                <a:pPr marL="285750" indent="-285750">
                  <a:buFontTx/>
                  <a:buChar char="-"/>
                </a:pPr>
                <a:r>
                  <a:rPr lang="fr-FR" dirty="0" err="1"/>
                  <a:t>Subtract</a:t>
                </a:r>
                <a:r>
                  <a:rPr lang="fr-FR" dirty="0"/>
                  <a:t> air signal:</a:t>
                </a:r>
              </a:p>
              <a:p>
                <a:r>
                  <a:rPr lang="fr-FR" dirty="0"/>
                  <a:t>-&gt; </a:t>
                </a:r>
                <a:r>
                  <a:rPr lang="fr-FR" dirty="0" err="1"/>
                  <a:t>Compute</a:t>
                </a:r>
                <a:r>
                  <a:rPr lang="fr-FR" dirty="0"/>
                  <a:t> and </a:t>
                </a:r>
                <a:r>
                  <a:rPr lang="fr-FR" dirty="0" err="1"/>
                  <a:t>save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𝑆𝑤𝑖𝑛𝑔</m:t>
                        </m:r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𝐺𝐶</m:t>
                        </m:r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sSub>
                      <m:sSubPr>
                        <m:ctrlPr>
                          <a:rPr lang="pt-B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− </m:t>
                        </m:r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𝑆𝑤𝑖𝑛𝑔</m:t>
                        </m:r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𝑎𝑖𝑟</m:t>
                        </m:r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endParaRPr lang="fr-FR" dirty="0"/>
              </a:p>
              <a:p>
                <a:endParaRPr lang="fr-FR" dirty="0"/>
              </a:p>
              <a:p>
                <a:r>
                  <a:rPr lang="fr-FR" dirty="0"/>
                  <a:t>- </a:t>
                </a:r>
                <a:r>
                  <a:rPr lang="fr-FR" dirty="0" err="1"/>
                  <a:t>Divide</a:t>
                </a:r>
                <a:r>
                  <a:rPr lang="fr-FR" dirty="0"/>
                  <a:t> by </a:t>
                </a:r>
                <a:r>
                  <a:rPr lang="fr-FR" dirty="0" err="1"/>
                  <a:t>thickness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𝐺𝐶</m:t>
                        </m:r>
                      </m:sub>
                    </m:sSub>
                  </m:oMath>
                </a14:m>
                <a:r>
                  <a:rPr lang="fr-FR" dirty="0"/>
                  <a:t> = 1.16 mm:</a:t>
                </a:r>
              </a:p>
              <a:p>
                <a:r>
                  <a:rPr lang="fr-FR" dirty="0"/>
                  <a:t>-&gt; </a:t>
                </a:r>
                <a:r>
                  <a:rPr lang="fr-FR" dirty="0" err="1"/>
                  <a:t>Compute</a:t>
                </a:r>
                <a:r>
                  <a:rPr lang="fr-FR" dirty="0"/>
                  <a:t> and </a:t>
                </a:r>
                <a:r>
                  <a:rPr lang="fr-FR" dirty="0" err="1"/>
                  <a:t>save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pt-B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 dirty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fr-FR" i="1" dirty="0">
                                <a:latin typeface="Cambria Math" panose="02040503050406030204" pitchFamily="18" charset="0"/>
                              </a:rPr>
                              <m:t>𝑆𝑤𝑖𝑛𝑔</m:t>
                            </m:r>
                            <m:r>
                              <a:rPr lang="fr-FR" i="1" dirty="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fr-FR" i="1" dirty="0">
                                <a:latin typeface="Cambria Math" panose="02040503050406030204" pitchFamily="18" charset="0"/>
                              </a:rPr>
                              <m:t>𝐺𝐶</m:t>
                            </m:r>
                            <m:r>
                              <a:rPr lang="fr-FR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sSub>
                          <m:sSubPr>
                            <m:ctrlPr>
                              <a:rPr lang="pt-B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 dirty="0">
                                <a:latin typeface="Cambria Math" panose="02040503050406030204" pitchFamily="18" charset="0"/>
                              </a:rPr>
                              <m:t>− </m:t>
                            </m:r>
                            <m:r>
                              <a:rPr lang="fr-FR" i="1" dirty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fr-FR" i="1" dirty="0">
                                <a:latin typeface="Cambria Math" panose="02040503050406030204" pitchFamily="18" charset="0"/>
                              </a:rPr>
                              <m:t>𝑆𝑤𝑖𝑛𝑔</m:t>
                            </m:r>
                            <m:r>
                              <a:rPr lang="fr-FR" i="1" dirty="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fr-FR" i="1" dirty="0">
                                <a:latin typeface="Cambria Math" panose="02040503050406030204" pitchFamily="18" charset="0"/>
                              </a:rPr>
                              <m:t>𝑎𝑖𝑟</m:t>
                            </m:r>
                            <m:r>
                              <a:rPr lang="fr-FR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fr-F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 dirty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fr-FR" i="1" dirty="0">
                                <a:latin typeface="Cambria Math" panose="02040503050406030204" pitchFamily="18" charset="0"/>
                              </a:rPr>
                              <m:t>𝐺𝐶</m:t>
                            </m:r>
                          </m:sub>
                        </m:sSub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𝑚𝑚</m:t>
                        </m:r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fr-FR" dirty="0"/>
              </a:p>
              <a:p>
                <a:pPr marL="285750" indent="-285750">
                  <a:buFontTx/>
                  <a:buChar char="-"/>
                </a:pPr>
                <a:endParaRPr lang="fr-FR" dirty="0"/>
              </a:p>
              <a:p>
                <a:pPr marL="285750" indent="-285750">
                  <a:buFontTx/>
                  <a:buChar char="-"/>
                </a:pPr>
                <a:r>
                  <a:rPr lang="fr-FR" dirty="0" err="1"/>
                  <a:t>Multiply</a:t>
                </a:r>
                <a:r>
                  <a:rPr lang="fr-FR" dirty="0"/>
                  <a:t> by calibration constant </a:t>
                </a:r>
                <a:r>
                  <a:rPr lang="fr-FR" b="1" dirty="0">
                    <a:solidFill>
                      <a:srgbClr val="FF0000"/>
                    </a:solidFill>
                  </a:rPr>
                  <a:t>K=0.036</a:t>
                </a:r>
              </a:p>
              <a:p>
                <a:pPr marL="285750" indent="-285750">
                  <a:buFontTx/>
                  <a:buChar char="-"/>
                </a:pPr>
                <a:r>
                  <a:rPr lang="fr-FR" dirty="0"/>
                  <a:t>-&gt; </a:t>
                </a:r>
                <a:r>
                  <a:rPr lang="fr-FR" dirty="0" err="1"/>
                  <a:t>Compute</a:t>
                </a:r>
                <a:r>
                  <a:rPr lang="fr-FR" dirty="0"/>
                  <a:t> and </a:t>
                </a:r>
                <a:r>
                  <a:rPr lang="fr-FR" dirty="0" err="1"/>
                  <a:t>save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𝐺𝐶</m:t>
                        </m:r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d>
                      <m:dPr>
                        <m:ctrlPr>
                          <a:rPr lang="fr-F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fr-FR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i="1" dirty="0">
                                <a:latin typeface="Cambria Math" panose="02040503050406030204" pitchFamily="18" charset="0"/>
                              </a:rPr>
                              <m:t>𝑐𝑚</m:t>
                            </m:r>
                          </m:e>
                          <m:sup>
                            <m:r>
                              <a:rPr lang="fr-FR" i="1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pt-BR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i="1" dirty="0">
                        <a:latin typeface="Cambria Math" panose="02040503050406030204" pitchFamily="18" charset="0"/>
                      </a:rPr>
                      <m:t>𝐾</m:t>
                    </m:r>
                    <m:f>
                      <m:fPr>
                        <m:ctrlPr>
                          <a:rPr lang="fr-FR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pt-B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 dirty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fr-FR" i="1" dirty="0">
                                <a:latin typeface="Cambria Math" panose="02040503050406030204" pitchFamily="18" charset="0"/>
                              </a:rPr>
                              <m:t>𝑆𝑤𝑖𝑛𝑔</m:t>
                            </m:r>
                            <m:r>
                              <a:rPr lang="fr-FR" i="1" dirty="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fr-FR" i="1" dirty="0">
                                <a:latin typeface="Cambria Math" panose="02040503050406030204" pitchFamily="18" charset="0"/>
                              </a:rPr>
                              <m:t>𝐺𝐶</m:t>
                            </m:r>
                            <m:r>
                              <a:rPr lang="fr-FR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sSub>
                          <m:sSubPr>
                            <m:ctrlPr>
                              <a:rPr lang="pt-B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 dirty="0">
                                <a:latin typeface="Cambria Math" panose="02040503050406030204" pitchFamily="18" charset="0"/>
                              </a:rPr>
                              <m:t>− </m:t>
                            </m:r>
                            <m:r>
                              <a:rPr lang="fr-FR" i="1" dirty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fr-FR" i="1" dirty="0">
                                <a:latin typeface="Cambria Math" panose="02040503050406030204" pitchFamily="18" charset="0"/>
                              </a:rPr>
                              <m:t>𝑆𝑤𝑖𝑛𝑔</m:t>
                            </m:r>
                            <m:r>
                              <a:rPr lang="fr-FR" i="1" dirty="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fr-FR" i="1" dirty="0">
                                <a:latin typeface="Cambria Math" panose="02040503050406030204" pitchFamily="18" charset="0"/>
                              </a:rPr>
                              <m:t>𝑎𝑖𝑟</m:t>
                            </m:r>
                            <m:r>
                              <a:rPr lang="fr-FR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fr-F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 dirty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fr-FR" i="1" dirty="0">
                                <a:latin typeface="Cambria Math" panose="02040503050406030204" pitchFamily="18" charset="0"/>
                              </a:rPr>
                              <m:t>𝐺𝐶</m:t>
                            </m:r>
                          </m:sub>
                        </m:sSub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𝑚𝑚</m:t>
                        </m:r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fr-FR" dirty="0"/>
              </a:p>
              <a:p>
                <a:pPr marL="285750" indent="-285750">
                  <a:buFontTx/>
                  <a:buChar char="-"/>
                </a:pPr>
                <a:endParaRPr lang="fr-FR" dirty="0"/>
              </a:p>
              <a:p>
                <a:pPr marL="285750" indent="-285750">
                  <a:buFontTx/>
                  <a:buChar char="-"/>
                </a:pPr>
                <a:r>
                  <a:rPr lang="fr-FR" dirty="0" err="1"/>
                  <a:t>Verify</a:t>
                </a:r>
                <a:r>
                  <a:rPr lang="fr-FR" dirty="0"/>
                  <a:t> </a:t>
                </a:r>
                <a:r>
                  <a:rPr lang="fr-FR" dirty="0" err="1"/>
                  <a:t>that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𝐺𝐶</m:t>
                        </m:r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d>
                      <m:dPr>
                        <m:ctrlPr>
                          <a:rPr lang="fr-F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fr-FR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i="1" dirty="0">
                                <a:latin typeface="Cambria Math" panose="02040503050406030204" pitchFamily="18" charset="0"/>
                              </a:rPr>
                              <m:t>𝑐𝑚</m:t>
                            </m:r>
                          </m:e>
                          <m:sup>
                            <m:r>
                              <a:rPr lang="fr-FR" i="1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fr-FR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dirty="0"/>
                  <a:t>superimposes </a:t>
                </a:r>
                <a:r>
                  <a:rPr lang="fr-FR" dirty="0" err="1"/>
                  <a:t>with</a:t>
                </a:r>
                <a:r>
                  <a:rPr lang="fr-FR" dirty="0"/>
                  <a:t> the calibration </a:t>
                </a:r>
                <a:r>
                  <a:rPr lang="fr-FR" dirty="0" err="1"/>
                  <a:t>curve</a:t>
                </a:r>
                <a:r>
                  <a:rPr lang="fr-FR" dirty="0"/>
                  <a:t> by Jan </a:t>
                </a:r>
                <a:r>
                  <a:rPr lang="fr-FR" dirty="0" err="1"/>
                  <a:t>Ilavsky</a:t>
                </a:r>
                <a:r>
                  <a:rPr lang="fr-FR" dirty="0"/>
                  <a:t> (file: GlassyCarbon_T.dat)</a:t>
                </a:r>
              </a:p>
              <a:p>
                <a:endParaRPr lang="fr-FR" dirty="0"/>
              </a:p>
            </p:txBody>
          </p:sp>
        </mc:Choice>
        <mc:Fallback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E0827F5-9E96-4EB0-8286-AAC637B58F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2632" y="2341219"/>
                <a:ext cx="5973869" cy="4335546"/>
              </a:xfrm>
              <a:prstGeom prst="rect">
                <a:avLst/>
              </a:prstGeom>
              <a:blipFill>
                <a:blip r:embed="rId4"/>
                <a:stretch>
                  <a:fillRect l="-816" t="-70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5B66585F-881E-4473-AA2F-08D735DA6732}"/>
                  </a:ext>
                </a:extLst>
              </p:cNvPr>
              <p:cNvSpPr txBox="1"/>
              <p:nvPr/>
            </p:nvSpPr>
            <p:spPr>
              <a:xfrm>
                <a:off x="6223538" y="1384122"/>
                <a:ext cx="5844174" cy="76790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0" i="1" dirty="0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fr-FR" sz="2400" b="0" i="1" dirty="0" smtClean="0">
                              <a:latin typeface="Cambria Math" panose="02040503050406030204" pitchFamily="18" charset="0"/>
                            </a:rPr>
                            <m:t>𝐺𝐶</m:t>
                          </m:r>
                          <m:r>
                            <a:rPr lang="fr-FR" sz="24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d>
                        <m:dPr>
                          <m:ctrlPr>
                            <a:rPr lang="fr-FR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fr-FR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400" i="1" dirty="0">
                                  <a:latin typeface="Cambria Math" panose="02040503050406030204" pitchFamily="18" charset="0"/>
                                </a:rPr>
                                <m:t>𝑐𝑚</m:t>
                              </m:r>
                            </m:e>
                            <m:sup>
                              <m:r>
                                <a:rPr lang="fr-FR" sz="2400" b="0" i="1" dirty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b="0" i="1" dirty="0" smtClean="0">
                          <a:latin typeface="Cambria Math" panose="02040503050406030204" pitchFamily="18" charset="0"/>
                        </a:rPr>
                        <m:t>𝐾</m:t>
                      </m:r>
                      <m:f>
                        <m:fPr>
                          <m:ctrlPr>
                            <a:rPr lang="fr-FR" sz="2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i="1" dirty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fr-FR" sz="2400" i="1" dirty="0">
                                  <a:latin typeface="Cambria Math" panose="02040503050406030204" pitchFamily="18" charset="0"/>
                                </a:rPr>
                                <m:t>𝑆𝑤𝑖𝑛𝑔</m:t>
                              </m:r>
                              <m:r>
                                <a:rPr lang="fr-FR" sz="2400" b="0" i="1" dirty="0" smtClean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fr-FR" sz="2400" i="1" dirty="0">
                                  <a:latin typeface="Cambria Math" panose="02040503050406030204" pitchFamily="18" charset="0"/>
                                </a:rPr>
                                <m:t>𝐺𝐶</m:t>
                              </m:r>
                              <m:r>
                                <a:rPr lang="fr-FR" sz="24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i="1" dirty="0">
                                  <a:latin typeface="Cambria Math" panose="02040503050406030204" pitchFamily="18" charset="0"/>
                                </a:rPr>
                                <m:t>− </m:t>
                              </m:r>
                              <m:r>
                                <a:rPr lang="fr-FR" sz="2400" i="1" dirty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fr-FR" sz="2400" i="1" dirty="0">
                                  <a:latin typeface="Cambria Math" panose="02040503050406030204" pitchFamily="18" charset="0"/>
                                </a:rPr>
                                <m:t>𝑆𝑤𝑖𝑛𝑔</m:t>
                              </m:r>
                              <m:r>
                                <a:rPr lang="fr-FR" sz="2400" i="1" dirty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fr-FR" sz="2400" i="1" dirty="0">
                                  <a:latin typeface="Cambria Math" panose="02040503050406030204" pitchFamily="18" charset="0"/>
                                </a:rPr>
                                <m:t>𝑎𝑖𝑟</m:t>
                              </m:r>
                              <m:r>
                                <a:rPr lang="fr-FR" sz="24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i="1" dirty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fr-FR" sz="2400" i="1" dirty="0">
                                  <a:latin typeface="Cambria Math" panose="02040503050406030204" pitchFamily="18" charset="0"/>
                                </a:rPr>
                                <m:t>𝐺𝐶</m:t>
                              </m:r>
                            </m:sub>
                          </m:sSub>
                          <m:r>
                            <a:rPr lang="fr-FR" sz="24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4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2400" i="1" dirty="0">
                              <a:latin typeface="Cambria Math" panose="02040503050406030204" pitchFamily="18" charset="0"/>
                            </a:rPr>
                            <m:t>𝑚𝑚</m:t>
                          </m:r>
                          <m:r>
                            <a:rPr lang="fr-FR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fr-FR" sz="2400" dirty="0"/>
              </a:p>
            </p:txBody>
          </p:sp>
        </mc:Choice>
        <mc:Fallback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5B66585F-881E-4473-AA2F-08D735DA6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3538" y="1384122"/>
                <a:ext cx="5844174" cy="76790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E8737AFE-46E9-45B6-A3DF-C92F95C96161}"/>
              </a:ext>
            </a:extLst>
          </p:cNvPr>
          <p:cNvSpPr/>
          <p:nvPr/>
        </p:nvSpPr>
        <p:spPr>
          <a:xfrm>
            <a:off x="1117513" y="6220749"/>
            <a:ext cx="24107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GC calibration: K=0.036</a:t>
            </a:r>
          </a:p>
        </p:txBody>
      </p:sp>
    </p:spTree>
    <p:extLst>
      <p:ext uri="{BB962C8B-B14F-4D97-AF65-F5344CB8AC3E}">
        <p14:creationId xmlns:p14="http://schemas.microsoft.com/office/powerpoint/2010/main" val="602093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88A353C6-EED3-42A5-B421-2D9F281C31FE}"/>
              </a:ext>
            </a:extLst>
          </p:cNvPr>
          <p:cNvSpPr txBox="1"/>
          <p:nvPr/>
        </p:nvSpPr>
        <p:spPr>
          <a:xfrm>
            <a:off x="-88777" y="431267"/>
            <a:ext cx="119404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b="1" dirty="0"/>
              <a:t>For all SWING data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1109168F-3511-4EA4-ABC2-F3D5A0FFBAE7}"/>
                  </a:ext>
                </a:extLst>
              </p:cNvPr>
              <p:cNvSpPr txBox="1"/>
              <p:nvPr/>
            </p:nvSpPr>
            <p:spPr>
              <a:xfrm>
                <a:off x="779200" y="2796839"/>
                <a:ext cx="11119998" cy="63216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fr-FR" sz="2400" b="0" i="1" dirty="0" smtClean="0">
                            <a:latin typeface="Cambria Math" panose="02040503050406030204" pitchFamily="18" charset="0"/>
                          </a:rPr>
                          <m:t>𝑐𝑎𝑝</m:t>
                        </m:r>
                        <m:r>
                          <a:rPr lang="fr-FR" sz="2400" b="0" i="1" dirty="0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fr-FR" sz="2400" b="0" i="1" dirty="0" smtClean="0">
                            <a:latin typeface="Cambria Math" panose="02040503050406030204" pitchFamily="18" charset="0"/>
                          </a:rPr>
                          <m:t>𝑛𝑜𝑟𝑚</m:t>
                        </m:r>
                        <m:r>
                          <a:rPr lang="fr-FR" sz="2400" b="0" i="1" dirty="0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fr-FR" sz="2400" b="0" i="1" dirty="0" smtClean="0">
                            <a:latin typeface="Cambria Math" panose="02040503050406030204" pitchFamily="18" charset="0"/>
                          </a:rPr>
                          <m:t>𝑠𝑢𝑏</m:t>
                        </m:r>
                        <m:r>
                          <a:rPr lang="fr-FR" sz="24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d>
                      <m:dPr>
                        <m:ctrlPr>
                          <a:rPr lang="fr-FR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fr-FR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400" i="1" dirty="0">
                                <a:latin typeface="Cambria Math" panose="02040503050406030204" pitchFamily="18" charset="0"/>
                              </a:rPr>
                              <m:t>𝑐𝑚</m:t>
                            </m:r>
                          </m:e>
                          <m:sup>
                            <m:r>
                              <a:rPr lang="fr-FR" sz="2400" b="0" i="1" dirty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400" b="0" i="1" dirty="0" smtClean="0">
                        <a:latin typeface="Cambria Math" panose="02040503050406030204" pitchFamily="18" charset="0"/>
                      </a:rPr>
                      <m:t>𝐾</m:t>
                    </m:r>
                    <m:f>
                      <m:fPr>
                        <m:ctrlPr>
                          <a:rPr lang="fr-FR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pt-BR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400" i="1" dirty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fr-FR" sz="2400" i="1" dirty="0">
                                <a:latin typeface="Cambria Math" panose="02040503050406030204" pitchFamily="18" charset="0"/>
                              </a:rPr>
                              <m:t>𝑆𝑤𝑖𝑛𝑔</m:t>
                            </m:r>
                            <m:r>
                              <a:rPr lang="fr-FR" sz="2400" b="0" i="1" dirty="0" smtClean="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fr-FR" sz="2400" b="0" i="1" dirty="0" smtClean="0">
                                <a:latin typeface="Cambria Math" panose="02040503050406030204" pitchFamily="18" charset="0"/>
                              </a:rPr>
                              <m:t>𝑐𝑎𝑝</m:t>
                            </m:r>
                            <m:r>
                              <a:rPr lang="fr-FR" sz="24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sSub>
                          <m:sSubPr>
                            <m:ctrlPr>
                              <a:rPr lang="pt-BR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400" i="1" dirty="0">
                                <a:latin typeface="Cambria Math" panose="02040503050406030204" pitchFamily="18" charset="0"/>
                              </a:rPr>
                              <m:t>− </m:t>
                            </m:r>
                            <m:r>
                              <a:rPr lang="fr-FR" sz="2400" i="1" dirty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fr-FR" sz="2400" i="1" dirty="0">
                                <a:latin typeface="Cambria Math" panose="02040503050406030204" pitchFamily="18" charset="0"/>
                              </a:rPr>
                              <m:t>𝑆𝑤𝑖𝑛𝑔</m:t>
                            </m:r>
                            <m:r>
                              <a:rPr lang="fr-FR" sz="2400" i="1" dirty="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fr-FR" sz="2400" b="0" i="1" dirty="0" smtClean="0">
                                <a:latin typeface="Cambria Math" panose="02040503050406030204" pitchFamily="18" charset="0"/>
                              </a:rPr>
                              <m:t>𝑐𝑎𝑝</m:t>
                            </m:r>
                            <m:r>
                              <a:rPr lang="fr-FR" sz="2400" b="0" i="1" dirty="0" smtClean="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fr-FR" sz="2400" b="0" i="1" dirty="0" smtClean="0">
                                <a:latin typeface="Cambria Math" panose="02040503050406030204" pitchFamily="18" charset="0"/>
                              </a:rPr>
                              <m:t>𝑠𝑜𝑙𝑣𝑒𝑛𝑡</m:t>
                            </m:r>
                            <m:r>
                              <a:rPr lang="fr-FR" sz="24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fr-FR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400" i="1" dirty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fr-FR" sz="2400" b="0" i="1" dirty="0" smtClean="0">
                                <a:latin typeface="Cambria Math" panose="02040503050406030204" pitchFamily="18" charset="0"/>
                              </a:rPr>
                              <m:t>𝑐𝑎𝑝</m:t>
                            </m:r>
                          </m:sub>
                        </m:sSub>
                        <m:r>
                          <a:rPr lang="fr-FR" sz="24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sz="2400" i="1" dirty="0">
                            <a:latin typeface="Cambria Math" panose="02040503050406030204" pitchFamily="18" charset="0"/>
                          </a:rPr>
                          <m:t>𝑚𝑚</m:t>
                        </m:r>
                        <m:r>
                          <a:rPr lang="fr-FR" sz="2400" i="1" dirty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pt-BR" sz="2400" dirty="0"/>
                  <a:t>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400" b="0" i="1" dirty="0" smtClean="0">
                        <a:latin typeface="Cambria Math" panose="02040503050406030204" pitchFamily="18" charset="0"/>
                      </a:rPr>
                      <m:t>𝐾</m:t>
                    </m:r>
                    <m:f>
                      <m:fPr>
                        <m:ctrlPr>
                          <a:rPr lang="fr-FR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pt-BR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400" i="1" dirty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fr-FR" sz="2400" i="1" dirty="0">
                                <a:latin typeface="Cambria Math" panose="02040503050406030204" pitchFamily="18" charset="0"/>
                              </a:rPr>
                              <m:t>𝑆𝑤𝑖𝑛𝑔</m:t>
                            </m:r>
                            <m:r>
                              <a:rPr lang="fr-FR" sz="2400" b="0" i="1" dirty="0" smtClean="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fr-FR" sz="2400" b="0" i="1" dirty="0" smtClean="0">
                                <a:latin typeface="Cambria Math" panose="02040503050406030204" pitchFamily="18" charset="0"/>
                              </a:rPr>
                              <m:t>𝑐𝑎𝑝</m:t>
                            </m:r>
                            <m:r>
                              <a:rPr lang="fr-FR" sz="24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fr-FR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400" i="1" dirty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fr-FR" sz="2400" b="0" i="1" dirty="0" smtClean="0">
                                <a:latin typeface="Cambria Math" panose="02040503050406030204" pitchFamily="18" charset="0"/>
                              </a:rPr>
                              <m:t>𝑐𝑎𝑝</m:t>
                            </m:r>
                          </m:sub>
                        </m:sSub>
                        <m:r>
                          <a:rPr lang="fr-FR" sz="24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sz="2400" i="1" dirty="0">
                            <a:latin typeface="Cambria Math" panose="02040503050406030204" pitchFamily="18" charset="0"/>
                          </a:rPr>
                          <m:t>𝑚𝑚</m:t>
                        </m:r>
                        <m:r>
                          <a:rPr lang="fr-FR" sz="2400" i="1" dirty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fr-FR" sz="2400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fr-FR" sz="2400" b="0" i="1" dirty="0" smtClean="0">
                        <a:latin typeface="Cambria Math" panose="02040503050406030204" pitchFamily="18" charset="0"/>
                      </a:rPr>
                      <m:t>𝐾</m:t>
                    </m:r>
                    <m:f>
                      <m:fPr>
                        <m:ctrlPr>
                          <a:rPr lang="fr-FR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pt-BR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400" i="1" dirty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fr-FR" sz="2400" i="1" dirty="0">
                                <a:latin typeface="Cambria Math" panose="02040503050406030204" pitchFamily="18" charset="0"/>
                              </a:rPr>
                              <m:t>𝑆𝑤𝑖𝑛𝑔</m:t>
                            </m:r>
                            <m:r>
                              <a:rPr lang="fr-FR" sz="2400" b="0" i="1" dirty="0" smtClean="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fr-FR" sz="2400" b="0" i="1" dirty="0" smtClean="0">
                                <a:latin typeface="Cambria Math" panose="02040503050406030204" pitchFamily="18" charset="0"/>
                              </a:rPr>
                              <m:t>𝑐𝑎𝑝</m:t>
                            </m:r>
                            <m:r>
                              <a:rPr lang="fr-FR" sz="2400" b="0" i="1" dirty="0" smtClean="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fr-FR" sz="2400" b="0" i="1" dirty="0" smtClean="0">
                                <a:latin typeface="Cambria Math" panose="02040503050406030204" pitchFamily="18" charset="0"/>
                              </a:rPr>
                              <m:t>𝑠𝑜𝑙𝑣𝑒𝑛𝑡</m:t>
                            </m:r>
                            <m:r>
                              <a:rPr lang="fr-FR" sz="24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fr-FR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400" i="1" dirty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fr-FR" sz="2400" b="0" i="1" dirty="0" smtClean="0">
                                <a:latin typeface="Cambria Math" panose="02040503050406030204" pitchFamily="18" charset="0"/>
                              </a:rPr>
                              <m:t>𝑐𝑎𝑝</m:t>
                            </m:r>
                          </m:sub>
                        </m:sSub>
                        <m:r>
                          <a:rPr lang="fr-FR" sz="24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sz="2400" i="1" dirty="0">
                            <a:latin typeface="Cambria Math" panose="02040503050406030204" pitchFamily="18" charset="0"/>
                          </a:rPr>
                          <m:t>𝑚𝑚</m:t>
                        </m:r>
                        <m:r>
                          <a:rPr lang="fr-FR" sz="2400" i="1" dirty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fr-FR" sz="2400" dirty="0"/>
              </a:p>
            </p:txBody>
          </p:sp>
        </mc:Choice>
        <mc:Fallback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1109168F-3511-4EA4-ABC2-F3D5A0FFBA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200" y="2796839"/>
                <a:ext cx="11119998" cy="63216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EA9F1D57-C9D6-496C-BDC7-F4BF78B32D95}"/>
              </a:ext>
            </a:extLst>
          </p:cNvPr>
          <p:cNvSpPr/>
          <p:nvPr/>
        </p:nvSpPr>
        <p:spPr>
          <a:xfrm>
            <a:off x="779199" y="1729943"/>
            <a:ext cx="1069693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rgbClr val="FF0000"/>
                </a:solidFill>
              </a:rPr>
              <a:t>In Foxtrot, use K=0.036 for the calibration constant (</a:t>
            </a:r>
            <a:r>
              <a:rPr lang="fr-FR" sz="2000" b="1" dirty="0" err="1">
                <a:solidFill>
                  <a:srgbClr val="FF0000"/>
                </a:solidFill>
              </a:rPr>
              <a:t>instead</a:t>
            </a:r>
            <a:r>
              <a:rPr lang="fr-FR" sz="2000" b="1" dirty="0">
                <a:solidFill>
                  <a:srgbClr val="FF0000"/>
                </a:solidFill>
              </a:rPr>
              <a:t> of K=1) and run </a:t>
            </a:r>
            <a:r>
              <a:rPr lang="fr-FR" sz="2000" b="1" dirty="0" err="1">
                <a:solidFill>
                  <a:srgbClr val="FF0000"/>
                </a:solidFill>
              </a:rPr>
              <a:t>again</a:t>
            </a:r>
            <a:r>
              <a:rPr lang="fr-FR" sz="2000" b="1" dirty="0">
                <a:solidFill>
                  <a:srgbClr val="FF0000"/>
                </a:solidFill>
              </a:rPr>
              <a:t> the macro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1E05E01-051F-4145-81F3-FB08E0E23F5A}"/>
                  </a:ext>
                </a:extLst>
              </p:cNvPr>
              <p:cNvSpPr/>
              <p:nvPr/>
            </p:nvSpPr>
            <p:spPr>
              <a:xfrm>
                <a:off x="2714553" y="5293704"/>
                <a:ext cx="7249292" cy="9447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fr-FR" b="1" dirty="0">
                    <a:solidFill>
                      <a:srgbClr val="FF0000"/>
                    </a:solidFill>
                  </a:rPr>
                  <a:t>Calibration of </a:t>
                </a:r>
                <a:r>
                  <a:rPr lang="fr-FR" b="1" dirty="0" err="1">
                    <a:solidFill>
                      <a:srgbClr val="FF0000"/>
                    </a:solidFill>
                  </a:rPr>
                  <a:t>intensity</a:t>
                </a:r>
                <a:r>
                  <a:rPr lang="fr-FR" b="1" dirty="0">
                    <a:solidFill>
                      <a:srgbClr val="FF0000"/>
                    </a:solidFill>
                  </a:rPr>
                  <a:t> for a </a:t>
                </a:r>
                <a:r>
                  <a:rPr lang="fr-FR" b="1" dirty="0" err="1">
                    <a:solidFill>
                      <a:srgbClr val="FF0000"/>
                    </a:solidFill>
                  </a:rPr>
                  <a:t>sample</a:t>
                </a:r>
                <a:r>
                  <a:rPr lang="fr-FR" b="1" dirty="0">
                    <a:solidFill>
                      <a:srgbClr val="FF0000"/>
                    </a:solidFill>
                  </a:rPr>
                  <a:t> in a glass </a:t>
                </a:r>
                <a:r>
                  <a:rPr lang="fr-FR" b="1" dirty="0" err="1">
                    <a:solidFill>
                      <a:srgbClr val="FF0000"/>
                    </a:solidFill>
                  </a:rPr>
                  <a:t>capillary</a:t>
                </a:r>
                <a:r>
                  <a:rPr lang="fr-FR" b="1" dirty="0">
                    <a:solidFill>
                      <a:srgbClr val="FF0000"/>
                    </a:solidFill>
                  </a:rPr>
                  <a:t>:</a:t>
                </a:r>
              </a:p>
              <a:p>
                <a:endParaRPr lang="fr-FR" b="1" dirty="0"/>
              </a:p>
              <a:p>
                <a:r>
                  <a:rPr lang="fr-FR" dirty="0"/>
                  <a:t>** </a:t>
                </a:r>
                <a:r>
                  <a:rPr lang="fr-FR" dirty="0" err="1"/>
                  <a:t>Take</a:t>
                </a:r>
                <a:r>
                  <a:rPr lang="fr-FR" dirty="0"/>
                  <a:t> the </a:t>
                </a:r>
                <a:r>
                  <a:rPr lang="fr-FR" dirty="0" err="1"/>
                  <a:t>same</a:t>
                </a:r>
                <a:r>
                  <a:rPr lang="fr-FR" dirty="0"/>
                  <a:t> </a:t>
                </a:r>
                <a:r>
                  <a:rPr lang="fr-FR" dirty="0" err="1"/>
                  <a:t>thickness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fr-FR" i="1" dirty="0">
                            <a:latin typeface="Cambria Math" panose="02040503050406030204" pitchFamily="18" charset="0"/>
                          </a:rPr>
                          <m:t>𝑐𝑎𝑝</m:t>
                        </m:r>
                      </m:sub>
                    </m:sSub>
                  </m:oMath>
                </a14:m>
                <a:r>
                  <a:rPr lang="fr-FR" dirty="0"/>
                  <a:t> (in mm) for the </a:t>
                </a:r>
                <a:r>
                  <a:rPr lang="fr-FR" dirty="0" err="1"/>
                  <a:t>capillary</a:t>
                </a:r>
                <a:r>
                  <a:rPr lang="fr-FR" dirty="0"/>
                  <a:t> </a:t>
                </a:r>
                <a:r>
                  <a:rPr lang="fr-FR" dirty="0" err="1"/>
                  <a:t>filled</a:t>
                </a:r>
                <a:r>
                  <a:rPr lang="fr-FR" dirty="0"/>
                  <a:t> </a:t>
                </a:r>
                <a:r>
                  <a:rPr lang="fr-FR" dirty="0" err="1"/>
                  <a:t>with</a:t>
                </a:r>
                <a:r>
                  <a:rPr lang="fr-FR" dirty="0"/>
                  <a:t> solvent  </a:t>
                </a:r>
              </a:p>
            </p:txBody>
          </p:sp>
        </mc:Choice>
        <mc:Fallback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1E05E01-051F-4145-81F3-FB08E0E23F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4553" y="5293704"/>
                <a:ext cx="7249292" cy="944746"/>
              </a:xfrm>
              <a:prstGeom prst="rect">
                <a:avLst/>
              </a:prstGeom>
              <a:blipFill>
                <a:blip r:embed="rId3"/>
                <a:stretch>
                  <a:fillRect l="-673" t="-3226" r="-589" b="-774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FAE98BE8-3A41-4A7C-A45A-346C70F31482}"/>
                  </a:ext>
                </a:extLst>
              </p:cNvPr>
              <p:cNvSpPr txBox="1"/>
              <p:nvPr/>
            </p:nvSpPr>
            <p:spPr>
              <a:xfrm>
                <a:off x="678532" y="3913520"/>
                <a:ext cx="4547810" cy="8054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0" i="1" dirty="0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fr-FR" sz="2400" b="0" i="1" dirty="0" smtClean="0">
                              <a:latin typeface="Cambria Math" panose="02040503050406030204" pitchFamily="18" charset="0"/>
                            </a:rPr>
                            <m:t>𝑐𝑎𝑝</m:t>
                          </m:r>
                          <m:r>
                            <a:rPr lang="fr-FR" sz="2400" b="0" i="1" dirty="0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fr-FR" sz="2400" b="0" i="1" dirty="0" smtClean="0">
                              <a:latin typeface="Cambria Math" panose="02040503050406030204" pitchFamily="18" charset="0"/>
                            </a:rPr>
                            <m:t>𝑛𝑜𝑟𝑚</m:t>
                          </m:r>
                          <m:r>
                            <a:rPr lang="fr-FR" sz="24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d>
                        <m:dPr>
                          <m:ctrlPr>
                            <a:rPr lang="fr-FR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fr-FR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400" i="1" dirty="0">
                                  <a:latin typeface="Cambria Math" panose="02040503050406030204" pitchFamily="18" charset="0"/>
                                </a:rPr>
                                <m:t>𝑐𝑚</m:t>
                              </m:r>
                            </m:e>
                            <m:sup>
                              <m:r>
                                <a:rPr lang="fr-FR" sz="2400" b="0" i="1" dirty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d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b="0" i="1" dirty="0" smtClean="0">
                          <a:latin typeface="Cambria Math" panose="02040503050406030204" pitchFamily="18" charset="0"/>
                        </a:rPr>
                        <m:t>𝐾</m:t>
                      </m:r>
                      <m:f>
                        <m:fPr>
                          <m:ctrlPr>
                            <a:rPr lang="fr-FR" sz="2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i="1" dirty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fr-FR" sz="2400" i="1" dirty="0">
                                  <a:latin typeface="Cambria Math" panose="02040503050406030204" pitchFamily="18" charset="0"/>
                                </a:rPr>
                                <m:t>𝑆𝑤𝑖𝑛𝑔</m:t>
                              </m:r>
                              <m:r>
                                <a:rPr lang="fr-FR" sz="2400" b="0" i="1" dirty="0" smtClean="0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fr-FR" sz="2400" b="0" i="1" dirty="0" smtClean="0">
                                  <a:latin typeface="Cambria Math" panose="02040503050406030204" pitchFamily="18" charset="0"/>
                                </a:rPr>
                                <m:t>𝑐𝑎𝑝</m:t>
                              </m:r>
                              <m:r>
                                <a:rPr lang="fr-FR" sz="24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i="1" dirty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fr-FR" sz="2400" b="0" i="1" dirty="0" smtClean="0">
                                  <a:latin typeface="Cambria Math" panose="02040503050406030204" pitchFamily="18" charset="0"/>
                                </a:rPr>
                                <m:t>𝑐𝑎𝑝</m:t>
                              </m:r>
                            </m:sub>
                          </m:sSub>
                          <m:r>
                            <a:rPr lang="fr-FR" sz="24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4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2400" i="1" dirty="0">
                              <a:latin typeface="Cambria Math" panose="02040503050406030204" pitchFamily="18" charset="0"/>
                            </a:rPr>
                            <m:t>𝑚𝑚</m:t>
                          </m:r>
                          <m:r>
                            <a:rPr lang="fr-FR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fr-FR" sz="2400" dirty="0"/>
              </a:p>
            </p:txBody>
          </p:sp>
        </mc:Choice>
        <mc:Fallback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FAE98BE8-3A41-4A7C-A45A-346C70F31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532" y="3913520"/>
                <a:ext cx="4547810" cy="8054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943980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275</Words>
  <Application>Microsoft Office PowerPoint</Application>
  <PresentationFormat>Grand écran</PresentationFormat>
  <Paragraphs>36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Thème Office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Marianne IMPEROR</dc:creator>
  <cp:lastModifiedBy>Marianne IMPEROR</cp:lastModifiedBy>
  <cp:revision>4</cp:revision>
  <dcterms:created xsi:type="dcterms:W3CDTF">2026-05-20T10:24:07Z</dcterms:created>
  <dcterms:modified xsi:type="dcterms:W3CDTF">2026-05-20T10:52:08Z</dcterms:modified>
</cp:coreProperties>
</file>